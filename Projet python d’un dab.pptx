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774423" y="802298"/>
            <a:ext cx="8637073" cy="2920713"/>
          </a:xfrm>
        </p:spPr>
        <p:txBody>
          <a:bodyPr bIns="0" anchor="b">
            <a:normAutofit/>
          </a:bodyPr>
          <a:lstStyle>
            <a:lvl1pPr algn="ctr">
              <a:defRPr sz="6600"/>
            </a:lvl1pPr>
          </a:lstStyle>
          <a:p>
            <a:r>
              <a:rPr lang="fr-FR"/>
              <a:t>Modifiez le style du titre</a:t>
            </a:r>
            <a:endParaRPr lang="en-US" dirty="0"/>
          </a:p>
        </p:txBody>
      </p:sp>
      <p:sp>
        <p:nvSpPr>
          <p:cNvPr id="3" name="Subtitle 2"/>
          <p:cNvSpPr>
            <a:spLocks noGrp="1"/>
          </p:cNvSpPr>
          <p:nvPr>
            <p:ph type="subTitle" idx="1"/>
          </p:nvPr>
        </p:nvSpPr>
        <p:spPr>
          <a:xfrm>
            <a:off x="1774424" y="3724074"/>
            <a:ext cx="8637072" cy="977621"/>
          </a:xfrm>
        </p:spPr>
        <p:txBody>
          <a:bodyPr tIns="91440" bIns="91440">
            <a:normAutofit/>
          </a:bodyPr>
          <a:lstStyle>
            <a:lvl1pPr marL="0" indent="0" algn="ctr">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5445A5A0-90A6-4324-8F91-B3CF3665B9C1}" type="datetimeFigureOut">
              <a:rPr lang="fr-FR" smtClean="0"/>
              <a:t>25/11/2025</a:t>
            </a:fld>
            <a:endParaRPr lang="fr-FR"/>
          </a:p>
        </p:txBody>
      </p:sp>
      <p:sp>
        <p:nvSpPr>
          <p:cNvPr id="5" name="Footer Placeholder 4"/>
          <p:cNvSpPr>
            <a:spLocks noGrp="1"/>
          </p:cNvSpPr>
          <p:nvPr>
            <p:ph type="ftr" sz="quarter" idx="11"/>
          </p:nvPr>
        </p:nvSpPr>
        <p:spPr>
          <a:xfrm>
            <a:off x="1451579" y="329307"/>
            <a:ext cx="5626774" cy="309201"/>
          </a:xfrm>
        </p:spPr>
        <p:txBody>
          <a:bodyPr/>
          <a:lstStyle/>
          <a:p>
            <a:endParaRPr lang="fr-FR"/>
          </a:p>
        </p:txBody>
      </p:sp>
      <p:sp>
        <p:nvSpPr>
          <p:cNvPr id="6" name="Slide Number Placeholder 5"/>
          <p:cNvSpPr>
            <a:spLocks noGrp="1"/>
          </p:cNvSpPr>
          <p:nvPr>
            <p:ph type="sldNum" sz="quarter" idx="12"/>
          </p:nvPr>
        </p:nvSpPr>
        <p:spPr>
          <a:xfrm>
            <a:off x="476834" y="798973"/>
            <a:ext cx="811019" cy="503578"/>
          </a:xfrm>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16940124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5445A5A0-90A6-4324-8F91-B3CF3665B9C1}" type="datetimeFigureOut">
              <a:rPr lang="fr-FR" smtClean="0"/>
              <a:t>25/11/2025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3075766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774423" y="1756130"/>
            <a:ext cx="8643154" cy="1969007"/>
          </a:xfrm>
        </p:spPr>
        <p:txBody>
          <a:bodyPr anchor="b">
            <a:normAutofit/>
          </a:bodyPr>
          <a:lstStyle>
            <a:lvl1pPr algn="ctr">
              <a:defRPr sz="3600"/>
            </a:lvl1pPr>
          </a:lstStyle>
          <a:p>
            <a:r>
              <a:rPr lang="fr-FR"/>
              <a:t>Modifiez le style du titre</a:t>
            </a:r>
            <a:endParaRPr lang="en-US" dirty="0"/>
          </a:p>
        </p:txBody>
      </p:sp>
      <p:sp>
        <p:nvSpPr>
          <p:cNvPr id="3" name="Text Placeholder 2"/>
          <p:cNvSpPr>
            <a:spLocks noGrp="1"/>
          </p:cNvSpPr>
          <p:nvPr>
            <p:ph type="body" idx="1"/>
          </p:nvPr>
        </p:nvSpPr>
        <p:spPr>
          <a:xfrm>
            <a:off x="1774423" y="3725137"/>
            <a:ext cx="8643154" cy="1093987"/>
          </a:xfrm>
        </p:spPr>
        <p:txBody>
          <a:bodyPr tIns="91440">
            <a:normAutofit/>
          </a:bodyPr>
          <a:lstStyle>
            <a:lvl1pPr marL="0" indent="0" algn="ct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5445A5A0-90A6-4324-8F91-B3CF3665B9C1}" type="datetimeFigureOut">
              <a:rPr lang="fr-FR" smtClean="0"/>
              <a:t>25/11/2025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2916071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293577" cy="1059305"/>
          </a:xfrm>
        </p:spPr>
        <p:txBody>
          <a:bodyPr/>
          <a:lstStyle/>
          <a:p>
            <a:r>
              <a:rPr lang="fr-FR"/>
              <a:t>Modifiez le style du titre</a:t>
            </a:r>
            <a:endParaRPr lang="en-US" dirty="0"/>
          </a:p>
        </p:txBody>
      </p:sp>
      <p:sp>
        <p:nvSpPr>
          <p:cNvPr id="3" name="Content Placeholder 2"/>
          <p:cNvSpPr>
            <a:spLocks noGrp="1"/>
          </p:cNvSpPr>
          <p:nvPr>
            <p:ph sz="half" idx="1"/>
          </p:nvPr>
        </p:nvSpPr>
        <p:spPr>
          <a:xfrm>
            <a:off x="1447331" y="2010878"/>
            <a:ext cx="4488654" cy="344859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54140" y="2017343"/>
            <a:ext cx="4488654" cy="344152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5445A5A0-90A6-4324-8F91-B3CF3665B9C1}" type="datetimeFigureOut">
              <a:rPr lang="fr-FR" smtClean="0"/>
              <a:t>25/11/2025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16868267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295603" cy="1056319"/>
          </a:xfrm>
        </p:spPr>
        <p:txBody>
          <a:bodyPr/>
          <a:lstStyle/>
          <a:p>
            <a:r>
              <a:rPr lang="fr-FR"/>
              <a:t>Modifiez le style du titre</a:t>
            </a:r>
            <a:endParaRPr lang="en-US" dirty="0"/>
          </a:p>
        </p:txBody>
      </p:sp>
      <p:sp>
        <p:nvSpPr>
          <p:cNvPr id="3" name="Text Placeholder 2"/>
          <p:cNvSpPr>
            <a:spLocks noGrp="1"/>
          </p:cNvSpPr>
          <p:nvPr>
            <p:ph type="body" idx="1"/>
          </p:nvPr>
        </p:nvSpPr>
        <p:spPr>
          <a:xfrm>
            <a:off x="1447191" y="2019549"/>
            <a:ext cx="4488794"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447191" y="2824269"/>
            <a:ext cx="4488794" cy="264445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56025" y="2023003"/>
            <a:ext cx="4488794"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256025" y="2821491"/>
            <a:ext cx="4488794" cy="263737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5445A5A0-90A6-4324-8F91-B3CF3665B9C1}" type="datetimeFigureOut">
              <a:rPr lang="fr-FR" smtClean="0"/>
              <a:t>25/11/2025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2768537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5445A5A0-90A6-4324-8F91-B3CF3665B9C1}" type="datetimeFigureOut">
              <a:rPr lang="fr-FR" smtClean="0"/>
              <a:t>25/11/2025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41863397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45A5A0-90A6-4324-8F91-B3CF3665B9C1}" type="datetimeFigureOut">
              <a:rPr lang="fr-FR" smtClean="0"/>
              <a:t>25/11/2025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323491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2961967" cy="2406518"/>
          </a:xfrm>
        </p:spPr>
        <p:txBody>
          <a:bodyPr anchor="b">
            <a:normAutofit/>
          </a:bodyPr>
          <a:lstStyle>
            <a:lvl1pPr algn="l">
              <a:defRPr sz="2400"/>
            </a:lvl1pPr>
          </a:lstStyle>
          <a:p>
            <a:r>
              <a:rPr lang="fr-FR"/>
              <a:t>Modifiez le style du titre</a:t>
            </a:r>
            <a:endParaRPr lang="en-US" dirty="0"/>
          </a:p>
        </p:txBody>
      </p:sp>
      <p:sp>
        <p:nvSpPr>
          <p:cNvPr id="3" name="Content Placeholder 2"/>
          <p:cNvSpPr>
            <a:spLocks noGrp="1"/>
          </p:cNvSpPr>
          <p:nvPr>
            <p:ph idx="1"/>
          </p:nvPr>
        </p:nvSpPr>
        <p:spPr>
          <a:xfrm>
            <a:off x="4730324" y="798974"/>
            <a:ext cx="6012470" cy="4658826"/>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444671" y="3205491"/>
            <a:ext cx="2961967"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5445A5A0-90A6-4324-8F91-B3CF3665B9C1}" type="datetimeFigureOut">
              <a:rPr lang="fr-FR" smtClean="0"/>
              <a:t>25/11/2025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39528941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grpSp>
        <p:nvGrpSpPr>
          <p:cNvPr id="9" name="Group 8"/>
          <p:cNvGrpSpPr/>
          <p:nvPr/>
        </p:nvGrpSpPr>
        <p:grpSpPr>
          <a:xfrm>
            <a:off x="7477387" y="482170"/>
            <a:ext cx="4074533" cy="5149101"/>
            <a:chOff x="7477387" y="482170"/>
            <a:chExt cx="4074533" cy="5149101"/>
          </a:xfrm>
        </p:grpSpPr>
        <p:sp>
          <p:nvSpPr>
            <p:cNvPr id="18" name="Rectangle 17"/>
            <p:cNvSpPr/>
            <p:nvPr/>
          </p:nvSpPr>
          <p:spPr>
            <a:xfrm>
              <a:off x="7477387" y="482170"/>
              <a:ext cx="4074533" cy="5149101"/>
            </a:xfrm>
            <a:prstGeom prst="rect">
              <a:avLst/>
            </a:prstGeom>
            <a:blipFill dpi="0" rotWithShape="1">
              <a:blip r:embed="rId2">
                <a:alphaModFix amt="30000"/>
              </a:blip>
              <a:srcRect/>
              <a:tile tx="0" ty="0" sx="100000" sy="100000" flip="none" algn="ctr"/>
            </a:blip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extrusionH="76200" contourW="12700" prstMaterial="matte">
              <a:bevelT w="152400" h="50800" prst="softRound"/>
              <a:extrusionClr>
                <a:schemeClr val="tx2"/>
              </a:extrusionClr>
              <a:contourClr>
                <a:schemeClr val="bg2"/>
              </a:contourClr>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a:xfrm>
              <a:off x="7790446" y="812506"/>
              <a:ext cx="3450289" cy="4466452"/>
            </a:xfrm>
            <a:prstGeom prst="rect">
              <a:avLst/>
            </a:prstGeom>
            <a:gradFill>
              <a:gsLst>
                <a:gs pos="0">
                  <a:srgbClr val="DADADA"/>
                </a:gs>
                <a:gs pos="100000">
                  <a:srgbClr val="FFFFFE"/>
                </a:gs>
              </a:gsLst>
              <a:lin ang="16200000" scaled="0"/>
            </a:gradFill>
            <a:ln w="38100" cmpd="sng">
              <a:solidFill>
                <a:schemeClr val="tx2">
                  <a:lumMod val="25000"/>
                </a:schemeClr>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2"/>
            <a:ext cx="5532328" cy="1922299"/>
          </a:xfrm>
        </p:spPr>
        <p:txBody>
          <a:bodyPr anchor="b">
            <a:normAutofit/>
          </a:bodyPr>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50000"/>
              <a:lumOff val="50000"/>
              <a:alpha val="80000"/>
            </a:schemeClr>
          </a:solidFill>
          <a:ln w="9525" cap="sq">
            <a:noFill/>
            <a:miter lim="800000"/>
          </a:ln>
          <a:effectLst/>
        </p:spPr>
        <p:txBody>
          <a:bodyPr vert="horz" lIns="91440" tIns="45720" rIns="91440" bIns="45720" rtlCol="0" anchor="t">
            <a:normAutofit/>
          </a:bodyPr>
          <a:lstStyle>
            <a:lvl1pPr>
              <a:defRPr lang="en-US" sz="3200" dirty="0"/>
            </a:lvl1pPr>
          </a:lstStyle>
          <a:p>
            <a:pPr lvl="0" algn="ctr"/>
            <a:r>
              <a:rPr lang="fr-FR"/>
              <a:t>Cliquez sur l'icône pour ajouter une image</a:t>
            </a:r>
            <a:endParaRPr lang="en-US" dirty="0"/>
          </a:p>
        </p:txBody>
      </p:sp>
      <p:sp>
        <p:nvSpPr>
          <p:cNvPr id="4" name="Text Placeholder 3"/>
          <p:cNvSpPr>
            <a:spLocks noGrp="1"/>
          </p:cNvSpPr>
          <p:nvPr>
            <p:ph type="body" sz="half" idx="2"/>
          </p:nvPr>
        </p:nvSpPr>
        <p:spPr>
          <a:xfrm>
            <a:off x="1450329" y="3059600"/>
            <a:ext cx="5524404" cy="2090134"/>
          </a:xfrm>
        </p:spPr>
        <p:txBody>
          <a:bodyPr>
            <a:normAutofit/>
          </a:bodyPr>
          <a:lstStyle>
            <a:lvl1pPr marL="0" indent="0" algn="ctr">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445A5A0-90A6-4324-8F91-B3CF3665B9C1}" type="datetimeFigureOut">
              <a:rPr lang="fr-FR" smtClean="0"/>
              <a:t>25/11/2025</a:t>
            </a:fld>
            <a:endParaRPr lang="fr-FR"/>
          </a:p>
        </p:txBody>
      </p:sp>
      <p:sp>
        <p:nvSpPr>
          <p:cNvPr id="6" name="Footer Placeholder 5"/>
          <p:cNvSpPr>
            <a:spLocks noGrp="1"/>
          </p:cNvSpPr>
          <p:nvPr>
            <p:ph type="ftr" sz="quarter" idx="11"/>
          </p:nvPr>
        </p:nvSpPr>
        <p:spPr>
          <a:xfrm>
            <a:off x="1447382" y="318640"/>
            <a:ext cx="5541004" cy="320931"/>
          </a:xfrm>
        </p:spPr>
        <p:txBody>
          <a:bodyPr/>
          <a:lstStyle/>
          <a:p>
            <a:endParaRPr lang="fr-FR"/>
          </a:p>
        </p:txBody>
      </p:sp>
      <p:sp>
        <p:nvSpPr>
          <p:cNvPr id="7" name="Slide Number Placeholder 6"/>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13436468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5445A5A0-90A6-4324-8F91-B3CF3665B9C1}" type="datetimeFigureOut">
              <a:rPr lang="fr-FR" smtClean="0"/>
              <a:t>25/11/2025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3054274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27052" y="798973"/>
            <a:ext cx="1615742" cy="4659889"/>
          </a:xfrm>
        </p:spPr>
        <p:txBody>
          <a:bodyPr vert="eaVert"/>
          <a:lstStyle>
            <a:lvl1pPr algn="l">
              <a:defRPr/>
            </a:lvl1pPr>
          </a:lstStyle>
          <a:p>
            <a:r>
              <a:rPr lang="fr-FR"/>
              <a:t>Modifiez le style du titre</a:t>
            </a:r>
            <a:endParaRPr lang="en-US" dirty="0"/>
          </a:p>
        </p:txBody>
      </p:sp>
      <p:sp>
        <p:nvSpPr>
          <p:cNvPr id="3" name="Vertical Text Placeholder 2"/>
          <p:cNvSpPr>
            <a:spLocks noGrp="1"/>
          </p:cNvSpPr>
          <p:nvPr>
            <p:ph type="body" orient="vert" idx="1"/>
          </p:nvPr>
        </p:nvSpPr>
        <p:spPr>
          <a:xfrm>
            <a:off x="1444672" y="798973"/>
            <a:ext cx="7518654" cy="465988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5445A5A0-90A6-4324-8F91-B3CF3665B9C1}" type="datetimeFigureOut">
              <a:rPr lang="fr-FR" smtClean="0"/>
              <a:t>25/11/2025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CB1FC8D-E028-4847-9FE4-4CEFD2AA814A}" type="slidenum">
              <a:rPr lang="fr-FR" smtClean="0"/>
              <a:t>‹N°›</a:t>
            </a:fld>
            <a:endParaRPr lang="fr-FR"/>
          </a:p>
        </p:txBody>
      </p:sp>
    </p:spTree>
    <p:extLst>
      <p:ext uri="{BB962C8B-B14F-4D97-AF65-F5344CB8AC3E}">
        <p14:creationId xmlns:p14="http://schemas.microsoft.com/office/powerpoint/2010/main" val="391840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291215" cy="104923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451579" y="2015732"/>
            <a:ext cx="9291215" cy="345061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242079"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445A5A0-90A6-4324-8F91-B3CF3665B9C1}" type="datetimeFigureOut">
              <a:rPr lang="fr-FR" smtClean="0"/>
              <a:t>25/11/2025</a:t>
            </a:fld>
            <a:endParaRPr lang="fr-FR"/>
          </a:p>
        </p:txBody>
      </p:sp>
      <p:sp>
        <p:nvSpPr>
          <p:cNvPr id="5" name="Footer Placeholder 4"/>
          <p:cNvSpPr>
            <a:spLocks noGrp="1"/>
          </p:cNvSpPr>
          <p:nvPr>
            <p:ph type="ftr" sz="quarter" idx="3"/>
          </p:nvPr>
        </p:nvSpPr>
        <p:spPr>
          <a:xfrm>
            <a:off x="1451579" y="329307"/>
            <a:ext cx="5626774"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fr-FR"/>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5CB1FC8D-E028-4847-9FE4-4CEFD2AA814A}" type="slidenum">
              <a:rPr lang="fr-FR" smtClean="0"/>
              <a:t>‹N°›</a:t>
            </a:fld>
            <a:endParaRPr lang="fr-FR"/>
          </a:p>
        </p:txBody>
      </p:sp>
      <p:sp>
        <p:nvSpPr>
          <p:cNvPr id="9" name="Rectangle 8"/>
          <p:cNvSpPr/>
          <p:nvPr/>
        </p:nvSpPr>
        <p:spPr>
          <a:xfrm>
            <a:off x="0" y="3622291"/>
            <a:ext cx="12192000" cy="2505984"/>
          </a:xfrm>
          <a:prstGeom prst="rect">
            <a:avLst/>
          </a:prstGeom>
          <a:gradFill flip="none" rotWithShape="1">
            <a:gsLst>
              <a:gs pos="0">
                <a:schemeClr val="bg2">
                  <a:alpha val="0"/>
                </a:schemeClr>
              </a:gs>
              <a:gs pos="100000">
                <a:schemeClr val="bg2">
                  <a:alpha val="80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10" name="Picture 9"/>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a:xfrm>
            <a:off x="0" y="6129338"/>
            <a:ext cx="12192000" cy="742950"/>
          </a:xfrm>
          <a:prstGeom prst="rect">
            <a:avLst/>
          </a:prstGeom>
        </p:spPr>
      </p:pic>
      <p:cxnSp>
        <p:nvCxnSpPr>
          <p:cNvPr id="12" name="Straight Connector 11"/>
          <p:cNvCxnSpPr/>
          <p:nvPr/>
        </p:nvCxnSpPr>
        <p:spPr>
          <a:xfrm>
            <a:off x="0" y="6138142"/>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602088"/>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ctr" defTabSz="914400" rtl="0" eaLnBrk="1" latinLnBrk="0" hangingPunct="1">
        <a:lnSpc>
          <a:spcPct val="90000"/>
        </a:lnSpc>
        <a:spcBef>
          <a:spcPct val="0"/>
        </a:spcBef>
        <a:buNone/>
        <a:defRPr sz="3200" b="0" i="0" kern="1200" cap="all">
          <a:solidFill>
            <a:schemeClr val="accent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6BC2AD4-E92C-07B8-9187-BE06F6F9E865}"/>
              </a:ext>
            </a:extLst>
          </p:cNvPr>
          <p:cNvSpPr>
            <a:spLocks noGrp="1"/>
          </p:cNvSpPr>
          <p:nvPr>
            <p:ph type="ctrTitle"/>
          </p:nvPr>
        </p:nvSpPr>
        <p:spPr/>
        <p:txBody>
          <a:bodyPr>
            <a:normAutofit/>
          </a:bodyPr>
          <a:lstStyle/>
          <a:p>
            <a:r>
              <a:rPr lang="fr-FR" dirty="0"/>
              <a:t>Projet python d’un dab </a:t>
            </a:r>
          </a:p>
        </p:txBody>
      </p:sp>
      <p:sp>
        <p:nvSpPr>
          <p:cNvPr id="3" name="Sous-titre 2">
            <a:extLst>
              <a:ext uri="{FF2B5EF4-FFF2-40B4-BE49-F238E27FC236}">
                <a16:creationId xmlns:a16="http://schemas.microsoft.com/office/drawing/2014/main" id="{C7CCAB47-9966-71AD-3029-AD56488A5BB2}"/>
              </a:ext>
            </a:extLst>
          </p:cNvPr>
          <p:cNvSpPr>
            <a:spLocks noGrp="1"/>
          </p:cNvSpPr>
          <p:nvPr>
            <p:ph type="subTitle" idx="1"/>
          </p:nvPr>
        </p:nvSpPr>
        <p:spPr/>
        <p:txBody>
          <a:bodyPr/>
          <a:lstStyle/>
          <a:p>
            <a:r>
              <a:rPr lang="fr-FR" dirty="0" err="1"/>
              <a:t>Louis.L</a:t>
            </a:r>
            <a:r>
              <a:rPr lang="fr-FR" dirty="0"/>
              <a:t> Bogdan Alexandre Axel</a:t>
            </a:r>
          </a:p>
        </p:txBody>
      </p:sp>
    </p:spTree>
    <p:extLst>
      <p:ext uri="{BB962C8B-B14F-4D97-AF65-F5344CB8AC3E}">
        <p14:creationId xmlns:p14="http://schemas.microsoft.com/office/powerpoint/2010/main" val="25258225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717FAD7-825B-A579-5AB3-4F14CF2A1FCD}"/>
              </a:ext>
            </a:extLst>
          </p:cNvPr>
          <p:cNvSpPr>
            <a:spLocks noGrp="1"/>
          </p:cNvSpPr>
          <p:nvPr>
            <p:ph type="title"/>
          </p:nvPr>
        </p:nvSpPr>
        <p:spPr/>
        <p:txBody>
          <a:bodyPr/>
          <a:lstStyle/>
          <a:p>
            <a:r>
              <a:rPr lang="fr-FR" dirty="0"/>
              <a:t>Présentation du projet </a:t>
            </a:r>
          </a:p>
        </p:txBody>
      </p:sp>
      <p:sp>
        <p:nvSpPr>
          <p:cNvPr id="3" name="Espace réservé du contenu 2">
            <a:extLst>
              <a:ext uri="{FF2B5EF4-FFF2-40B4-BE49-F238E27FC236}">
                <a16:creationId xmlns:a16="http://schemas.microsoft.com/office/drawing/2014/main" id="{4F0D6889-2B21-82E3-11FE-C781095B3563}"/>
              </a:ext>
            </a:extLst>
          </p:cNvPr>
          <p:cNvSpPr>
            <a:spLocks noGrp="1"/>
          </p:cNvSpPr>
          <p:nvPr>
            <p:ph idx="1"/>
          </p:nvPr>
        </p:nvSpPr>
        <p:spPr/>
        <p:txBody>
          <a:bodyPr/>
          <a:lstStyle/>
          <a:p>
            <a:r>
              <a:rPr lang="fr-FR" dirty="0"/>
              <a:t>Fonction principale du projet</a:t>
            </a:r>
          </a:p>
          <a:p>
            <a:r>
              <a:rPr lang="fr-FR" dirty="0"/>
              <a:t>Identification  </a:t>
            </a:r>
          </a:p>
          <a:p>
            <a:r>
              <a:rPr lang="fr-FR" dirty="0"/>
              <a:t>Consultation du solde</a:t>
            </a:r>
          </a:p>
          <a:p>
            <a:r>
              <a:rPr lang="fr-FR" dirty="0"/>
              <a:t>Retirer de l’argent</a:t>
            </a:r>
          </a:p>
          <a:p>
            <a:r>
              <a:rPr lang="fr-FR" dirty="0"/>
              <a:t>Déposer de l’argent </a:t>
            </a:r>
          </a:p>
          <a:p>
            <a:r>
              <a:rPr lang="fr-FR" dirty="0"/>
              <a:t>Transfert d’argent</a:t>
            </a:r>
          </a:p>
          <a:p>
            <a:r>
              <a:rPr lang="fr-FR" dirty="0"/>
              <a:t>Quitter le programme</a:t>
            </a:r>
          </a:p>
          <a:p>
            <a:endParaRPr lang="fr-FR" dirty="0"/>
          </a:p>
        </p:txBody>
      </p:sp>
    </p:spTree>
    <p:extLst>
      <p:ext uri="{BB962C8B-B14F-4D97-AF65-F5344CB8AC3E}">
        <p14:creationId xmlns:p14="http://schemas.microsoft.com/office/powerpoint/2010/main" val="1968024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5B9003-15D3-ACD6-0D51-FDA9C60F9D50}"/>
              </a:ext>
            </a:extLst>
          </p:cNvPr>
          <p:cNvSpPr>
            <a:spLocks noGrp="1"/>
          </p:cNvSpPr>
          <p:nvPr>
            <p:ph type="title"/>
          </p:nvPr>
        </p:nvSpPr>
        <p:spPr/>
        <p:txBody>
          <a:bodyPr/>
          <a:lstStyle/>
          <a:p>
            <a:r>
              <a:rPr lang="fr-FR" dirty="0"/>
              <a:t>Fonction principale</a:t>
            </a:r>
          </a:p>
        </p:txBody>
      </p:sp>
      <p:sp>
        <p:nvSpPr>
          <p:cNvPr id="3" name="Espace réservé du contenu 2">
            <a:extLst>
              <a:ext uri="{FF2B5EF4-FFF2-40B4-BE49-F238E27FC236}">
                <a16:creationId xmlns:a16="http://schemas.microsoft.com/office/drawing/2014/main" id="{5A1B1A6C-C599-75C2-D66C-E41DBAD09210}"/>
              </a:ext>
            </a:extLst>
          </p:cNvPr>
          <p:cNvSpPr>
            <a:spLocks noGrp="1"/>
          </p:cNvSpPr>
          <p:nvPr>
            <p:ph idx="1"/>
          </p:nvPr>
        </p:nvSpPr>
        <p:spPr/>
        <p:txBody>
          <a:bodyPr/>
          <a:lstStyle/>
          <a:p>
            <a:r>
              <a:rPr lang="fr-FR" dirty="0"/>
              <a:t>La fonction principale du Distributeur Automatique à Billet est en premier lieu de pouvoir transférer, retirer ou déposer de l’argent à volonté (dans la limite de vos fonds) tout en gardant une bonne sécurité de votre compte en banque. L’avantage d’utiliser un DAB est qu’il est disponible et utilisable 24/24H, étant donné que c’est un programme, et cela nous permet d’éviter d’aller au guichet pour faire </a:t>
            </a:r>
            <a:r>
              <a:rPr lang="fr-FR"/>
              <a:t>certaines actions.</a:t>
            </a:r>
            <a:endParaRPr lang="fr-FR" dirty="0"/>
          </a:p>
        </p:txBody>
      </p:sp>
    </p:spTree>
    <p:extLst>
      <p:ext uri="{BB962C8B-B14F-4D97-AF65-F5344CB8AC3E}">
        <p14:creationId xmlns:p14="http://schemas.microsoft.com/office/powerpoint/2010/main" val="21577004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084AB4-DF90-5ED9-9219-7E41BEE96D25}"/>
              </a:ext>
            </a:extLst>
          </p:cNvPr>
          <p:cNvSpPr>
            <a:spLocks noGrp="1"/>
          </p:cNvSpPr>
          <p:nvPr>
            <p:ph type="title"/>
          </p:nvPr>
        </p:nvSpPr>
        <p:spPr/>
        <p:txBody>
          <a:bodyPr/>
          <a:lstStyle/>
          <a:p>
            <a:r>
              <a:rPr lang="fr-FR" dirty="0"/>
              <a:t>identification</a:t>
            </a:r>
          </a:p>
        </p:txBody>
      </p:sp>
      <p:sp>
        <p:nvSpPr>
          <p:cNvPr id="3" name="Espace réservé du contenu 2">
            <a:extLst>
              <a:ext uri="{FF2B5EF4-FFF2-40B4-BE49-F238E27FC236}">
                <a16:creationId xmlns:a16="http://schemas.microsoft.com/office/drawing/2014/main" id="{61A04E2C-0B1C-662D-8B57-DC08926C09ED}"/>
              </a:ext>
            </a:extLst>
          </p:cNvPr>
          <p:cNvSpPr>
            <a:spLocks noGrp="1"/>
          </p:cNvSpPr>
          <p:nvPr>
            <p:ph idx="1"/>
          </p:nvPr>
        </p:nvSpPr>
        <p:spPr/>
        <p:txBody>
          <a:bodyPr/>
          <a:lstStyle/>
          <a:p>
            <a:r>
              <a:rPr lang="fr-FR" dirty="0"/>
              <a:t>Lorsque l’on utilise le DAB, la première chose à faire est de se connecter afin d’avoir accès à toutes les fonctions possibles du DAB.</a:t>
            </a:r>
          </a:p>
          <a:p>
            <a:r>
              <a:rPr lang="fr-FR" dirty="0"/>
              <a:t>Le programme demande d’abord notre Pseudo de compte, puis notre Code PIN pour une sécurisation optimale.</a:t>
            </a:r>
          </a:p>
        </p:txBody>
      </p:sp>
    </p:spTree>
    <p:extLst>
      <p:ext uri="{BB962C8B-B14F-4D97-AF65-F5344CB8AC3E}">
        <p14:creationId xmlns:p14="http://schemas.microsoft.com/office/powerpoint/2010/main" val="24094936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08EEC5-60DB-6139-8660-DBBD9DEF1860}"/>
              </a:ext>
            </a:extLst>
          </p:cNvPr>
          <p:cNvSpPr>
            <a:spLocks noGrp="1"/>
          </p:cNvSpPr>
          <p:nvPr>
            <p:ph type="title"/>
          </p:nvPr>
        </p:nvSpPr>
        <p:spPr/>
        <p:txBody>
          <a:bodyPr/>
          <a:lstStyle/>
          <a:p>
            <a:r>
              <a:rPr lang="fr-FR" dirty="0"/>
              <a:t>Consultation du solde</a:t>
            </a:r>
          </a:p>
        </p:txBody>
      </p:sp>
      <p:sp>
        <p:nvSpPr>
          <p:cNvPr id="3" name="Espace réservé du contenu 2">
            <a:extLst>
              <a:ext uri="{FF2B5EF4-FFF2-40B4-BE49-F238E27FC236}">
                <a16:creationId xmlns:a16="http://schemas.microsoft.com/office/drawing/2014/main" id="{0C19E9B3-3A71-A57F-D2FD-5F82E69E9EAC}"/>
              </a:ext>
            </a:extLst>
          </p:cNvPr>
          <p:cNvSpPr>
            <a:spLocks noGrp="1"/>
          </p:cNvSpPr>
          <p:nvPr>
            <p:ph idx="1"/>
          </p:nvPr>
        </p:nvSpPr>
        <p:spPr/>
        <p:txBody>
          <a:bodyPr/>
          <a:lstStyle/>
          <a:p>
            <a:r>
              <a:rPr lang="fr-FR" dirty="0"/>
              <a:t>Une des fonctions majeures du DAB est de pouvoir consulter son solde afin de savoir si vos dépenses sont trop élevées et s’il vous reste de l’argent.</a:t>
            </a:r>
          </a:p>
        </p:txBody>
      </p:sp>
    </p:spTree>
    <p:extLst>
      <p:ext uri="{BB962C8B-B14F-4D97-AF65-F5344CB8AC3E}">
        <p14:creationId xmlns:p14="http://schemas.microsoft.com/office/powerpoint/2010/main" val="3223919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991E87-5FDA-421D-1D84-DE02DA9714B9}"/>
              </a:ext>
            </a:extLst>
          </p:cNvPr>
          <p:cNvSpPr>
            <a:spLocks noGrp="1"/>
          </p:cNvSpPr>
          <p:nvPr>
            <p:ph type="title"/>
          </p:nvPr>
        </p:nvSpPr>
        <p:spPr/>
        <p:txBody>
          <a:bodyPr/>
          <a:lstStyle/>
          <a:p>
            <a:r>
              <a:rPr lang="fr-FR" dirty="0"/>
              <a:t>Retirer de l’argent</a:t>
            </a:r>
          </a:p>
        </p:txBody>
      </p:sp>
      <p:sp>
        <p:nvSpPr>
          <p:cNvPr id="3" name="Espace réservé du contenu 2">
            <a:extLst>
              <a:ext uri="{FF2B5EF4-FFF2-40B4-BE49-F238E27FC236}">
                <a16:creationId xmlns:a16="http://schemas.microsoft.com/office/drawing/2014/main" id="{6B88DA38-FD07-E39C-C06A-5C47082E5620}"/>
              </a:ext>
            </a:extLst>
          </p:cNvPr>
          <p:cNvSpPr>
            <a:spLocks noGrp="1"/>
          </p:cNvSpPr>
          <p:nvPr>
            <p:ph idx="1"/>
          </p:nvPr>
        </p:nvSpPr>
        <p:spPr/>
        <p:txBody>
          <a:bodyPr/>
          <a:lstStyle/>
          <a:p>
            <a:r>
              <a:rPr lang="fr-FR" dirty="0"/>
              <a:t>La deuxième fonction majeure du DAB est de pouvoir retirer de l’argent de notre compte en banque afin de pouvoir avoir de l’argent de liquide.</a:t>
            </a:r>
          </a:p>
          <a:p>
            <a:r>
              <a:rPr lang="fr-FR" dirty="0"/>
              <a:t>Le programme nous demande quelle somme nous voulons retirer.</a:t>
            </a:r>
          </a:p>
          <a:p>
            <a:r>
              <a:rPr lang="fr-FR" dirty="0"/>
              <a:t>Il vérifie alors si notre solde est suffisante : si oui, le retrait est effectué, sinon il nous indique que notre solde est insuffisante.</a:t>
            </a:r>
          </a:p>
        </p:txBody>
      </p:sp>
    </p:spTree>
    <p:extLst>
      <p:ext uri="{BB962C8B-B14F-4D97-AF65-F5344CB8AC3E}">
        <p14:creationId xmlns:p14="http://schemas.microsoft.com/office/powerpoint/2010/main" val="278717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7E31F7-BB0E-018E-6671-C81D5AA3214D}"/>
              </a:ext>
            </a:extLst>
          </p:cNvPr>
          <p:cNvSpPr>
            <a:spLocks noGrp="1"/>
          </p:cNvSpPr>
          <p:nvPr>
            <p:ph type="title"/>
          </p:nvPr>
        </p:nvSpPr>
        <p:spPr/>
        <p:txBody>
          <a:bodyPr/>
          <a:lstStyle/>
          <a:p>
            <a:r>
              <a:rPr lang="fr-FR" dirty="0"/>
              <a:t>Déposer de l’argent</a:t>
            </a:r>
          </a:p>
        </p:txBody>
      </p:sp>
      <p:sp>
        <p:nvSpPr>
          <p:cNvPr id="3" name="Espace réservé du contenu 2">
            <a:extLst>
              <a:ext uri="{FF2B5EF4-FFF2-40B4-BE49-F238E27FC236}">
                <a16:creationId xmlns:a16="http://schemas.microsoft.com/office/drawing/2014/main" id="{9E9A0417-B018-D1C8-7926-5BE96BFAF2FA}"/>
              </a:ext>
            </a:extLst>
          </p:cNvPr>
          <p:cNvSpPr>
            <a:spLocks noGrp="1"/>
          </p:cNvSpPr>
          <p:nvPr>
            <p:ph idx="1"/>
          </p:nvPr>
        </p:nvSpPr>
        <p:spPr/>
        <p:txBody>
          <a:bodyPr/>
          <a:lstStyle/>
          <a:p>
            <a:r>
              <a:rPr lang="fr-FR" dirty="0"/>
              <a:t>La troisième fonction majeure du DAB est de pouvoir déposer autant d’argent que l’on veut dans les limites de vos fonds. Cette fonctionnalité vous permet de pouvoir garder de l’argent précieusement dans notre compte en banque.</a:t>
            </a:r>
          </a:p>
          <a:p>
            <a:r>
              <a:rPr lang="fr-FR" dirty="0"/>
              <a:t>Le programme demande d’abord le montant que l’on veut déposer, puis il ajoute ce montant à la solde.</a:t>
            </a:r>
          </a:p>
        </p:txBody>
      </p:sp>
    </p:spTree>
    <p:extLst>
      <p:ext uri="{BB962C8B-B14F-4D97-AF65-F5344CB8AC3E}">
        <p14:creationId xmlns:p14="http://schemas.microsoft.com/office/powerpoint/2010/main" val="497771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3EE967-40B2-6854-0397-3909BF2E740D}"/>
              </a:ext>
            </a:extLst>
          </p:cNvPr>
          <p:cNvSpPr>
            <a:spLocks noGrp="1"/>
          </p:cNvSpPr>
          <p:nvPr>
            <p:ph type="title"/>
          </p:nvPr>
        </p:nvSpPr>
        <p:spPr/>
        <p:txBody>
          <a:bodyPr/>
          <a:lstStyle/>
          <a:p>
            <a:r>
              <a:rPr lang="fr-FR" dirty="0"/>
              <a:t>Transfert d’argent</a:t>
            </a:r>
          </a:p>
        </p:txBody>
      </p:sp>
      <p:sp>
        <p:nvSpPr>
          <p:cNvPr id="3" name="Espace réservé du contenu 2">
            <a:extLst>
              <a:ext uri="{FF2B5EF4-FFF2-40B4-BE49-F238E27FC236}">
                <a16:creationId xmlns:a16="http://schemas.microsoft.com/office/drawing/2014/main" id="{478E168E-2520-0896-ECE8-B07249E91D74}"/>
              </a:ext>
            </a:extLst>
          </p:cNvPr>
          <p:cNvSpPr>
            <a:spLocks noGrp="1"/>
          </p:cNvSpPr>
          <p:nvPr>
            <p:ph idx="1"/>
          </p:nvPr>
        </p:nvSpPr>
        <p:spPr/>
        <p:txBody>
          <a:bodyPr/>
          <a:lstStyle/>
          <a:p>
            <a:r>
              <a:rPr lang="fr-FR" dirty="0"/>
              <a:t>La dernière fonctionnalité du DAB est de pouvoir transférer, donc envoyer de l’argent à la personne de notre choix. La seule condition est que cette personne ait un compte sur notre DAB sinon le transfert de sera pas possible.</a:t>
            </a:r>
          </a:p>
          <a:p>
            <a:r>
              <a:rPr lang="fr-FR" dirty="0"/>
              <a:t>Le programme demande en premier lieu le Pseudo du destinataire à qui on veut transférer de l’argent. </a:t>
            </a:r>
          </a:p>
          <a:p>
            <a:r>
              <a:rPr lang="fr-FR" dirty="0"/>
              <a:t>Ensuite, il demande le montant à transférer.</a:t>
            </a:r>
          </a:p>
        </p:txBody>
      </p:sp>
    </p:spTree>
    <p:extLst>
      <p:ext uri="{BB962C8B-B14F-4D97-AF65-F5344CB8AC3E}">
        <p14:creationId xmlns:p14="http://schemas.microsoft.com/office/powerpoint/2010/main" val="1776147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9B4BFA2-66CB-D1FB-089D-9C34DE66A36C}"/>
              </a:ext>
            </a:extLst>
          </p:cNvPr>
          <p:cNvSpPr>
            <a:spLocks noGrp="1"/>
          </p:cNvSpPr>
          <p:nvPr>
            <p:ph type="title"/>
          </p:nvPr>
        </p:nvSpPr>
        <p:spPr/>
        <p:txBody>
          <a:bodyPr/>
          <a:lstStyle/>
          <a:p>
            <a:r>
              <a:rPr lang="fr-FR" dirty="0"/>
              <a:t>Quitter le programme</a:t>
            </a:r>
          </a:p>
        </p:txBody>
      </p:sp>
      <p:sp>
        <p:nvSpPr>
          <p:cNvPr id="3" name="Espace réservé du contenu 2">
            <a:extLst>
              <a:ext uri="{FF2B5EF4-FFF2-40B4-BE49-F238E27FC236}">
                <a16:creationId xmlns:a16="http://schemas.microsoft.com/office/drawing/2014/main" id="{34E79F95-018B-D422-7E82-4D72CBCE9C9B}"/>
              </a:ext>
            </a:extLst>
          </p:cNvPr>
          <p:cNvSpPr>
            <a:spLocks noGrp="1"/>
          </p:cNvSpPr>
          <p:nvPr>
            <p:ph idx="1"/>
          </p:nvPr>
        </p:nvSpPr>
        <p:spPr/>
        <p:txBody>
          <a:bodyPr/>
          <a:lstStyle/>
          <a:p>
            <a:r>
              <a:rPr lang="fr-FR" dirty="0"/>
              <a:t>Lorsque vous n’avez plus rien à faire sur le DAB, vous devez impérativement quitter le programme si vous ne voulez pas que le prochaine personne ait accès à votre compte privé !</a:t>
            </a:r>
          </a:p>
        </p:txBody>
      </p:sp>
    </p:spTree>
    <p:extLst>
      <p:ext uri="{BB962C8B-B14F-4D97-AF65-F5344CB8AC3E}">
        <p14:creationId xmlns:p14="http://schemas.microsoft.com/office/powerpoint/2010/main" val="1364434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971A49-AC42-7AF9-35B3-B941EC3907BA}"/>
              </a:ext>
            </a:extLst>
          </p:cNvPr>
          <p:cNvSpPr>
            <a:spLocks noGrp="1"/>
          </p:cNvSpPr>
          <p:nvPr>
            <p:ph type="title"/>
          </p:nvPr>
        </p:nvSpPr>
        <p:spPr/>
        <p:txBody>
          <a:bodyPr/>
          <a:lstStyle/>
          <a:p>
            <a:endParaRPr lang="fr-FR" dirty="0"/>
          </a:p>
        </p:txBody>
      </p:sp>
      <p:sp>
        <p:nvSpPr>
          <p:cNvPr id="3" name="Espace réservé du contenu 2">
            <a:extLst>
              <a:ext uri="{FF2B5EF4-FFF2-40B4-BE49-F238E27FC236}">
                <a16:creationId xmlns:a16="http://schemas.microsoft.com/office/drawing/2014/main" id="{A916D63F-3C68-A7B5-8B0B-6A8E2FECB8AF}"/>
              </a:ext>
            </a:extLst>
          </p:cNvPr>
          <p:cNvSpPr>
            <a:spLocks noGrp="1"/>
          </p:cNvSpPr>
          <p:nvPr>
            <p:ph idx="1"/>
          </p:nvPr>
        </p:nvSpPr>
        <p:spPr/>
        <p:txBody>
          <a:bodyPr/>
          <a:lstStyle/>
          <a:p>
            <a:endParaRPr lang="fr-FR" dirty="0"/>
          </a:p>
        </p:txBody>
      </p:sp>
      <p:pic>
        <p:nvPicPr>
          <p:cNvPr id="4" name="Image 3">
            <a:extLst>
              <a:ext uri="{FF2B5EF4-FFF2-40B4-BE49-F238E27FC236}">
                <a16:creationId xmlns:a16="http://schemas.microsoft.com/office/drawing/2014/main" id="{B46226AD-6B8B-29B5-1D5A-F5F7325B02B3}"/>
              </a:ext>
            </a:extLst>
          </p:cNvPr>
          <p:cNvPicPr>
            <a:picLocks noChangeAspect="1"/>
          </p:cNvPicPr>
          <p:nvPr/>
        </p:nvPicPr>
        <p:blipFill>
          <a:blip r:embed="rId2"/>
          <a:stretch>
            <a:fillRect/>
          </a:stretch>
        </p:blipFill>
        <p:spPr>
          <a:xfrm>
            <a:off x="0" y="0"/>
            <a:ext cx="12210089" cy="6858000"/>
          </a:xfrm>
          <a:prstGeom prst="rect">
            <a:avLst/>
          </a:prstGeom>
        </p:spPr>
      </p:pic>
    </p:spTree>
    <p:extLst>
      <p:ext uri="{BB962C8B-B14F-4D97-AF65-F5344CB8AC3E}">
        <p14:creationId xmlns:p14="http://schemas.microsoft.com/office/powerpoint/2010/main" val="975521519"/>
      </p:ext>
    </p:extLst>
  </p:cSld>
  <p:clrMapOvr>
    <a:masterClrMapping/>
  </p:clrMapOvr>
</p:sld>
</file>

<file path=ppt/theme/theme1.xml><?xml version="1.0" encoding="utf-8"?>
<a:theme xmlns:a="http://schemas.openxmlformats.org/drawingml/2006/main" name="Galerie">
  <a:themeElements>
    <a:clrScheme name="Galerie">
      <a:dk1>
        <a:sysClr val="windowText" lastClr="000000"/>
      </a:dk1>
      <a:lt1>
        <a:sysClr val="window" lastClr="FFFFFF"/>
      </a:lt1>
      <a:dk2>
        <a:srgbClr val="454545"/>
      </a:dk2>
      <a:lt2>
        <a:srgbClr val="DFD9D5"/>
      </a:lt2>
      <a:accent1>
        <a:srgbClr val="FB8C29"/>
      </a:accent1>
      <a:accent2>
        <a:srgbClr val="F2C351"/>
      </a:accent2>
      <a:accent3>
        <a:srgbClr val="D0CBA5"/>
      </a:accent3>
      <a:accent4>
        <a:srgbClr val="A2C476"/>
      </a:accent4>
      <a:accent5>
        <a:srgbClr val="57C293"/>
      </a:accent5>
      <a:accent6>
        <a:srgbClr val="06BFDE"/>
      </a:accent6>
      <a:hlink>
        <a:srgbClr val="FBAE29"/>
      </a:hlink>
      <a:folHlink>
        <a:srgbClr val="EDC47E"/>
      </a:folHlink>
    </a:clrScheme>
    <a:fontScheme name="Galerie">
      <a:majorFont>
        <a:latin typeface="Rockwell" panose="020606030202050204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panose="020606030202050204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erie">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BB5F5D82-B5E9-469E-A815-C655ED4AF243}"/>
    </a:ext>
  </a:extLst>
</a:theme>
</file>

<file path=docProps/app.xml><?xml version="1.0" encoding="utf-8"?>
<Properties xmlns="http://schemas.openxmlformats.org/officeDocument/2006/extended-properties" xmlns:vt="http://schemas.openxmlformats.org/officeDocument/2006/docPropsVTypes">
  <Template>Gallery</Template>
  <TotalTime>46</TotalTime>
  <Words>419</Words>
  <Application>Microsoft Office PowerPoint</Application>
  <PresentationFormat>Grand écran</PresentationFormat>
  <Paragraphs>30</Paragraphs>
  <Slides>10</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10</vt:i4>
      </vt:variant>
    </vt:vector>
  </HeadingPairs>
  <TitlesOfParts>
    <vt:vector size="13" baseType="lpstr">
      <vt:lpstr>Arial</vt:lpstr>
      <vt:lpstr>Rockwell</vt:lpstr>
      <vt:lpstr>Galerie</vt:lpstr>
      <vt:lpstr>Projet python d’un dab </vt:lpstr>
      <vt:lpstr>Présentation du projet </vt:lpstr>
      <vt:lpstr>Fonction principale</vt:lpstr>
      <vt:lpstr>identification</vt:lpstr>
      <vt:lpstr>Consultation du solde</vt:lpstr>
      <vt:lpstr>Retirer de l’argent</vt:lpstr>
      <vt:lpstr>Déposer de l’argent</vt:lpstr>
      <vt:lpstr>Transfert d’argent</vt:lpstr>
      <vt:lpstr>Quitter le programme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viala</dc:creator>
  <cp:lastModifiedBy>viala</cp:lastModifiedBy>
  <cp:revision>2</cp:revision>
  <dcterms:created xsi:type="dcterms:W3CDTF">2025-11-25T14:32:48Z</dcterms:created>
  <dcterms:modified xsi:type="dcterms:W3CDTF">2025-11-25T15:19:36Z</dcterms:modified>
</cp:coreProperties>
</file>